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0376512-5C79-68E6-F91B-59EFBA66E3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48C6060-31F4-48A0-25F5-C0EDFFC3BD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DD0CCFF-B389-DC2E-7E51-FCBBB9F06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5608E-D629-421F-A4FC-8A76A5E6DB3F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A02B39C-23D5-3329-EA3B-F969107CB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FE9FD52-46AA-B4C6-9D69-7B0D0EF50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EA19-418F-449D-85FB-A8E9FCF507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97129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1CF855E-E038-4835-14C9-63CB96B6C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A4A1354-A329-5C68-CD14-E8D9B3623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ED9124D-F2C6-FCCC-BD1F-D6BA95FD6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5608E-D629-421F-A4FC-8A76A5E6DB3F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9EE9542-38EA-D4C8-C640-5F5965D78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B0FCC1C-FB81-F31F-0F4D-6D3A287A6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EA19-418F-449D-85FB-A8E9FCF507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32466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0B72470-B0BC-655E-3B9E-4B5495B18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28C3225-9125-FB72-708D-6EC59F3E9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CF77243-3590-B300-EFD9-2635F0287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5608E-D629-421F-A4FC-8A76A5E6DB3F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1C2E8B0-CA05-5AB1-5D8E-BB4499A11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309A4AD-5F02-56F2-95F9-42E27A0F4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EA19-418F-449D-85FB-A8E9FCF507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02193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21ADC51-D5ED-F6D2-CF56-9C25A3D1E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66E07F2-1014-2D37-F9B7-53B72632FD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0818D8B9-7E1D-0968-F962-3466F639AA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F075290-0DAB-F5E1-B9B7-46026C57C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5608E-D629-421F-A4FC-8A76A5E6DB3F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141B69D-42E9-4159-CE99-A1AD2F441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BB31CBB-059A-395C-8064-EA84BDC5D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EA19-418F-449D-85FB-A8E9FCF507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2724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7B0403C-280B-D6BE-82E7-07E5EC095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AE703D2-2266-7C27-A4B7-2B19DE5A23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7EC33D1-DC01-317B-4ED9-A57140FC7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FAC5C67-794C-F191-DE2A-F630C1FA56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21A775FB-D022-3A0F-D08A-95546C44A7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C528813C-B8D1-71C0-AB27-734FD43AF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5608E-D629-421F-A4FC-8A76A5E6DB3F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19D90A42-5FAC-6991-79E4-95B513B75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A49840E4-5343-F6CA-CA6D-061825527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EA19-418F-449D-85FB-A8E9FCF507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66591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4A431F4-65E5-A58C-5ACF-CDA843A63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D4B0018F-8BCC-BCFF-46BB-8EDBADD53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5608E-D629-421F-A4FC-8A76A5E6DB3F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2630F627-D82B-755D-7578-62543B2A3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D927BAD-855C-EC5D-BBFE-D31989C6A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EA19-418F-449D-85FB-A8E9FCF507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24745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32956223-F2B4-941F-AA54-8F64D9CC5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5608E-D629-421F-A4FC-8A76A5E6DB3F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6637AF15-36E5-B9F7-2D42-BE61BA14B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658CC31-3A33-6988-A518-EBEFC0CC4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EA19-418F-449D-85FB-A8E9FCF507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62143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D445A83-5776-00DF-6CBA-A0B1598B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29BA9B7-4549-AD34-4417-A6D5961DA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5BB673E6-C21D-8F7A-6E89-AC40F8B4B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462D737-8C0B-C784-F95F-9EE35A9C3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5608E-D629-421F-A4FC-8A76A5E6DB3F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0A86C6C-8F33-AA58-722F-F1D0E6561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7C39181-A79F-37C9-5F33-14FFCB0CE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EA19-418F-449D-85FB-A8E9FCF507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44697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97DCA1-FA3D-09E4-F17C-2DCB91A3D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FDB95CB8-1E61-9BFA-03D5-F2EDD8950B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F659FBF8-F393-1002-7BEF-E07AD46385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B978C16-0124-61E9-F55B-76021CFD5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5608E-D629-421F-A4FC-8A76A5E6DB3F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A21B3A0-AD5F-2045-141E-BBA208F23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6C267ED-26B7-017E-C8DF-401B6A572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EA19-418F-449D-85FB-A8E9FCF507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0152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E17B822-9C71-A07F-13A5-05682E630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8FFF480-AAC8-F987-9E51-22C6FFB32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80F17C2-75C3-567E-186C-EB4FB9A57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5608E-D629-421F-A4FC-8A76A5E6DB3F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F617F05-40D8-FDCF-B0CE-39F1D0093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79F4291-4BFF-492A-AEB0-EA42930AD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EA19-418F-449D-85FB-A8E9FCF507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2256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860D5DF0-AD64-F535-5035-03C98C2026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C4D832DE-8DBE-A8D9-AA5E-F833B3E7A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BF630DE-1B8B-4F11-E784-F65C4B473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5608E-D629-421F-A4FC-8A76A5E6DB3F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6255FD0-E595-F847-C8DA-D8817D88F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809FCA9-59E8-D386-4E39-C941B68A1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FEA19-418F-449D-85FB-A8E9FCF507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16972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4E5DB87D-307A-3539-3D38-2E0D11529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BE27A48-CAA7-6565-41EB-21CD2CBC2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376AD0A-C8EA-18E4-D851-8CC395B996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A5608E-D629-421F-A4FC-8A76A5E6DB3F}" type="datetimeFigureOut">
              <a:rPr lang="hu-HU" smtClean="0"/>
              <a:t>2026. 03. 24.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58870B4-DC75-1B07-5EA0-08E8D4221B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12F7569-B82B-661D-A051-3F4B322D6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CFEA19-418F-449D-85FB-A8E9FCF507C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46841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4C470000-9A8F-1F4F-21D4-7757F2E50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hu-HU" sz="5200" dirty="0">
                <a:solidFill>
                  <a:schemeClr val="tx2"/>
                </a:solidFill>
              </a:rPr>
              <a:t>Hatékony AI folyamok kialakítása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8F9136F-30FA-F26B-175F-86381E2D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5368" y="4160126"/>
            <a:ext cx="6611098" cy="1014775"/>
          </a:xfrm>
        </p:spPr>
        <p:txBody>
          <a:bodyPr>
            <a:normAutofit/>
          </a:bodyPr>
          <a:lstStyle/>
          <a:p>
            <a:r>
              <a:rPr lang="hu-HU" sz="900" dirty="0">
                <a:solidFill>
                  <a:schemeClr val="tx2"/>
                </a:solidFill>
              </a:rPr>
              <a:t>Angyal Sándor, </a:t>
            </a:r>
            <a:r>
              <a:rPr lang="hu-HU" sz="900" dirty="0" err="1">
                <a:solidFill>
                  <a:schemeClr val="tx2"/>
                </a:solidFill>
              </a:rPr>
              <a:t>Bogdándy</a:t>
            </a:r>
            <a:r>
              <a:rPr lang="hu-HU" sz="900" dirty="0">
                <a:solidFill>
                  <a:schemeClr val="tx2"/>
                </a:solidFill>
              </a:rPr>
              <a:t> Béla, Kántor Kristóf, and Varga Dorottya</a:t>
            </a:r>
          </a:p>
          <a:p>
            <a:r>
              <a:rPr lang="hu-HU" sz="900" dirty="0">
                <a:solidFill>
                  <a:schemeClr val="tx2"/>
                </a:solidFill>
              </a:rPr>
              <a:t>Eötvös Loránd Tudományegyetem Informatikai Kar, </a:t>
            </a:r>
          </a:p>
          <a:p>
            <a:r>
              <a:rPr lang="hu-HU" sz="900" dirty="0">
                <a:solidFill>
                  <a:schemeClr val="tx2"/>
                </a:solidFill>
              </a:rPr>
              <a:t>Budapest 2026. március 24.</a:t>
            </a:r>
          </a:p>
        </p:txBody>
      </p:sp>
    </p:spTree>
    <p:extLst>
      <p:ext uri="{BB962C8B-B14F-4D97-AF65-F5344CB8AC3E}">
        <p14:creationId xmlns:p14="http://schemas.microsoft.com/office/powerpoint/2010/main" val="4201383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91AA6639-A7D7-CA5F-59F6-2FDE49708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112" y="354790"/>
            <a:ext cx="7318215" cy="1242898"/>
          </a:xfrm>
        </p:spPr>
        <p:txBody>
          <a:bodyPr>
            <a:normAutofit/>
          </a:bodyPr>
          <a:lstStyle/>
          <a:p>
            <a:r>
              <a:rPr lang="hu-HU" sz="3600" dirty="0">
                <a:solidFill>
                  <a:schemeClr val="tx2"/>
                </a:solidFill>
              </a:rPr>
              <a:t>Multi-Ágens alapmodellek és korlátjaik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F024400-0EE5-5E9F-A3FF-F96921F05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807" y="1272842"/>
            <a:ext cx="5221224" cy="5230368"/>
          </a:xfrm>
        </p:spPr>
        <p:txBody>
          <a:bodyPr anchor="ctr">
            <a:normAutofit/>
          </a:bodyPr>
          <a:lstStyle/>
          <a:p>
            <a:r>
              <a:rPr lang="hu-HU" sz="1800" dirty="0" err="1">
                <a:solidFill>
                  <a:schemeClr val="tx2"/>
                </a:solidFill>
              </a:rPr>
              <a:t>Agent</a:t>
            </a:r>
            <a:r>
              <a:rPr lang="hu-HU" sz="1800" dirty="0">
                <a:solidFill>
                  <a:schemeClr val="tx2"/>
                </a:solidFill>
              </a:rPr>
              <a:t> Forest modell</a:t>
            </a:r>
          </a:p>
          <a:p>
            <a:r>
              <a:rPr lang="hu-HU" sz="1800" dirty="0">
                <a:solidFill>
                  <a:schemeClr val="tx2"/>
                </a:solidFill>
              </a:rPr>
              <a:t>Erőforrás-probléma</a:t>
            </a:r>
          </a:p>
          <a:p>
            <a:r>
              <a:rPr lang="hu-HU" sz="1800" dirty="0" err="1">
                <a:solidFill>
                  <a:schemeClr val="tx2"/>
                </a:solidFill>
              </a:rPr>
              <a:t>Képességszaturáció</a:t>
            </a:r>
            <a:endParaRPr lang="hu-HU" sz="1800" dirty="0">
              <a:solidFill>
                <a:schemeClr val="tx2"/>
              </a:solidFill>
            </a:endParaRPr>
          </a:p>
          <a:p>
            <a:r>
              <a:rPr lang="hu-HU" sz="1800" dirty="0" err="1">
                <a:solidFill>
                  <a:schemeClr val="tx2"/>
                </a:solidFill>
              </a:rPr>
              <a:t>Hibaamplifikáció</a:t>
            </a:r>
            <a:endParaRPr lang="hu-HU" sz="1800" dirty="0">
              <a:solidFill>
                <a:schemeClr val="tx2"/>
              </a:solidFill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49B17926-52C0-13AC-9ECE-5A846768CB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6133" y="1270300"/>
            <a:ext cx="3371229" cy="2356800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ADFF9BA6-EC3A-53EC-0DDF-009B4573DD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3417" y="4059534"/>
            <a:ext cx="5883946" cy="231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808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EEE9C115-D629-DD6C-CFBE-5E8D32981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it-IT" sz="3600">
                <a:solidFill>
                  <a:schemeClr val="tx2"/>
                </a:solidFill>
              </a:rPr>
              <a:t>Free-MAD: Konszenzus nélküli vita architektúra</a:t>
            </a:r>
            <a:endParaRPr lang="hu-HU" sz="3600">
              <a:solidFill>
                <a:schemeClr val="tx2"/>
              </a:solidFill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E1D8473-5A24-87F2-D635-1AF8193DB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227626"/>
          </a:xfrm>
        </p:spPr>
        <p:txBody>
          <a:bodyPr anchor="ctr">
            <a:normAutofit/>
          </a:bodyPr>
          <a:lstStyle/>
          <a:p>
            <a:r>
              <a:rPr lang="hu-HU" sz="1800" dirty="0">
                <a:solidFill>
                  <a:schemeClr val="tx2"/>
                </a:solidFill>
              </a:rPr>
              <a:t>Kognitív torzítások</a:t>
            </a:r>
          </a:p>
          <a:p>
            <a:r>
              <a:rPr lang="hu-HU" sz="1800" dirty="0" err="1">
                <a:solidFill>
                  <a:schemeClr val="tx2"/>
                </a:solidFill>
              </a:rPr>
              <a:t>Consensus</a:t>
            </a:r>
            <a:r>
              <a:rPr lang="hu-HU" sz="1800" dirty="0">
                <a:solidFill>
                  <a:schemeClr val="tx2"/>
                </a:solidFill>
              </a:rPr>
              <a:t>-Free megközelítés</a:t>
            </a:r>
          </a:p>
          <a:p>
            <a:r>
              <a:rPr lang="hu-HU" sz="1800" dirty="0">
                <a:solidFill>
                  <a:schemeClr val="tx2"/>
                </a:solidFill>
              </a:rPr>
              <a:t>Divergens gondolkodás</a:t>
            </a:r>
          </a:p>
          <a:p>
            <a:r>
              <a:rPr lang="hu-HU" sz="1800" dirty="0">
                <a:solidFill>
                  <a:schemeClr val="tx2"/>
                </a:solidFill>
              </a:rPr>
              <a:t>Döntéshozatal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9" name="Kép 8">
            <a:extLst>
              <a:ext uri="{FF2B5EF4-FFF2-40B4-BE49-F238E27FC236}">
                <a16:creationId xmlns:a16="http://schemas.microsoft.com/office/drawing/2014/main" id="{3D1C09F3-942D-2CE6-4DBA-B11B30862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78" y="3802268"/>
            <a:ext cx="4954693" cy="128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938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C2E271C-090A-8007-601E-07AD0FF13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hu-HU" sz="3600">
                <a:solidFill>
                  <a:schemeClr val="tx2"/>
                </a:solidFill>
              </a:rPr>
              <a:t>Cognify</a:t>
            </a:r>
            <a:r>
              <a:rPr lang="hu-HU" sz="3600" dirty="0">
                <a:solidFill>
                  <a:schemeClr val="tx2"/>
                </a:solidFill>
              </a:rPr>
              <a:t>: Hierarchikus </a:t>
            </a:r>
            <a:r>
              <a:rPr lang="hu-HU" sz="3600">
                <a:solidFill>
                  <a:schemeClr val="tx2"/>
                </a:solidFill>
              </a:rPr>
              <a:t>Autotuning</a:t>
            </a:r>
            <a:endParaRPr lang="hu-HU" sz="3600" dirty="0">
              <a:solidFill>
                <a:schemeClr val="tx2"/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8F1C657-FE96-75F5-E723-CBA6167FC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227626"/>
          </a:xfrm>
        </p:spPr>
        <p:txBody>
          <a:bodyPr anchor="ctr">
            <a:normAutofit/>
          </a:bodyPr>
          <a:lstStyle/>
          <a:p>
            <a:r>
              <a:rPr lang="hu-HU" sz="1800">
                <a:solidFill>
                  <a:schemeClr val="tx2"/>
                </a:solidFill>
              </a:rPr>
              <a:t>Gráfos modellezés</a:t>
            </a:r>
          </a:p>
          <a:p>
            <a:r>
              <a:rPr lang="hu-HU" sz="1800">
                <a:solidFill>
                  <a:schemeClr val="tx2"/>
                </a:solidFill>
              </a:rPr>
              <a:t>AdaSeek algoritmus</a:t>
            </a:r>
          </a:p>
          <a:p>
            <a:r>
              <a:rPr lang="hu-HU" sz="1800">
                <a:solidFill>
                  <a:schemeClr val="tx2"/>
                </a:solidFill>
              </a:rPr>
              <a:t>Háromszintű optimalizáció</a:t>
            </a:r>
          </a:p>
          <a:p>
            <a:r>
              <a:rPr lang="hu-HU" sz="1800">
                <a:solidFill>
                  <a:schemeClr val="tx2"/>
                </a:solidFill>
              </a:rPr>
              <a:t>Többváltozós optimalizálás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Kép 5">
            <a:extLst>
              <a:ext uri="{FF2B5EF4-FFF2-40B4-BE49-F238E27FC236}">
                <a16:creationId xmlns:a16="http://schemas.microsoft.com/office/drawing/2014/main" id="{526072BA-88E4-673A-7961-1214EFD0E1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78" y="3994263"/>
            <a:ext cx="4954693" cy="90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335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70CA0745-6B93-0892-9872-32BBA47C1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hu-HU" sz="3600">
                <a:solidFill>
                  <a:schemeClr val="tx2"/>
                </a:solidFill>
              </a:rPr>
              <a:t>Agent</a:t>
            </a:r>
            <a:r>
              <a:rPr lang="hu-HU" sz="3600" dirty="0">
                <a:solidFill>
                  <a:schemeClr val="tx2"/>
                </a:solidFill>
              </a:rPr>
              <a:t> </a:t>
            </a:r>
            <a:r>
              <a:rPr lang="hu-HU" sz="3600">
                <a:solidFill>
                  <a:schemeClr val="tx2"/>
                </a:solidFill>
              </a:rPr>
              <a:t>Orchestra</a:t>
            </a:r>
            <a:r>
              <a:rPr lang="hu-HU" sz="3600" dirty="0">
                <a:solidFill>
                  <a:schemeClr val="tx2"/>
                </a:solidFill>
              </a:rPr>
              <a:t>: A hierarchikus koordináció</a:t>
            </a:r>
            <a:endParaRPr lang="hu-HU" sz="3600">
              <a:solidFill>
                <a:schemeClr val="tx2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2C83FA1-943E-7E8B-E31A-95421973C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227626"/>
          </a:xfrm>
        </p:spPr>
        <p:txBody>
          <a:bodyPr anchor="ctr">
            <a:normAutofit/>
          </a:bodyPr>
          <a:lstStyle/>
          <a:p>
            <a:r>
              <a:rPr lang="hu-HU" sz="1800" dirty="0">
                <a:solidFill>
                  <a:schemeClr val="tx2"/>
                </a:solidFill>
              </a:rPr>
              <a:t>Hierarchikus koncepció</a:t>
            </a:r>
          </a:p>
          <a:p>
            <a:r>
              <a:rPr lang="hu-HU" sz="1800" dirty="0">
                <a:solidFill>
                  <a:schemeClr val="tx2"/>
                </a:solidFill>
              </a:rPr>
              <a:t>Dinamikus feladatkezelés</a:t>
            </a:r>
          </a:p>
          <a:p>
            <a:r>
              <a:rPr lang="hu-HU" sz="1800" dirty="0">
                <a:solidFill>
                  <a:schemeClr val="tx2"/>
                </a:solidFill>
              </a:rPr>
              <a:t>Specializált alágensek: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hu-HU" sz="1800" dirty="0">
                <a:solidFill>
                  <a:schemeClr val="tx2"/>
                </a:solidFill>
              </a:rPr>
              <a:t>Mélykutató ágens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hu-HU" sz="1800" dirty="0">
                <a:solidFill>
                  <a:schemeClr val="tx2"/>
                </a:solidFill>
              </a:rPr>
              <a:t>Böngészőhasználati ágens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hu-HU" sz="1800" dirty="0">
                <a:solidFill>
                  <a:schemeClr val="tx2"/>
                </a:solidFill>
              </a:rPr>
              <a:t>Mélyanalizáló ágens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9" name="Kép 8">
            <a:extLst>
              <a:ext uri="{FF2B5EF4-FFF2-40B4-BE49-F238E27FC236}">
                <a16:creationId xmlns:a16="http://schemas.microsoft.com/office/drawing/2014/main" id="{3ADDACF8-965C-898D-67AF-94B59776B6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22" y="2826899"/>
            <a:ext cx="5923049" cy="278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914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Cím 1">
            <a:extLst>
              <a:ext uri="{FF2B5EF4-FFF2-40B4-BE49-F238E27FC236}">
                <a16:creationId xmlns:a16="http://schemas.microsoft.com/office/drawing/2014/main" id="{956290BB-07F8-FC4C-CB90-F3A45B203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hu-HU" sz="3600" dirty="0">
                <a:solidFill>
                  <a:schemeClr val="tx2"/>
                </a:solidFill>
              </a:rPr>
              <a:t>Összegzés, tervezési irányelvek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F9FE5D6-1012-66BD-72D5-0D9D6D184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numCol="2" anchor="ctr">
            <a:normAutofit/>
          </a:bodyPr>
          <a:lstStyle/>
          <a:p>
            <a:pPr marL="0" indent="0">
              <a:buNone/>
            </a:pPr>
            <a:r>
              <a:rPr lang="hu-HU" sz="1800" dirty="0">
                <a:solidFill>
                  <a:schemeClr val="tx2"/>
                </a:solidFill>
              </a:rPr>
              <a:t>Kerülendő praktikák:</a:t>
            </a:r>
          </a:p>
          <a:p>
            <a:r>
              <a:rPr lang="hu-HU" sz="1800" dirty="0">
                <a:solidFill>
                  <a:schemeClr val="tx2"/>
                </a:solidFill>
              </a:rPr>
              <a:t>Monolitikus ágensek használata (magas kontextus-költség).</a:t>
            </a:r>
          </a:p>
          <a:p>
            <a:r>
              <a:rPr lang="hu-HU" sz="1800" dirty="0">
                <a:solidFill>
                  <a:schemeClr val="tx2"/>
                </a:solidFill>
              </a:rPr>
              <a:t>"Lapos" (minden ágens egyenrangú) architektúrák.</a:t>
            </a:r>
          </a:p>
          <a:p>
            <a:r>
              <a:rPr lang="hu-HU" sz="1800" dirty="0">
                <a:solidFill>
                  <a:schemeClr val="tx2"/>
                </a:solidFill>
              </a:rPr>
              <a:t>A vak többségi szavazás és a konszenzus algoritmikus kikényszerítése.</a:t>
            </a:r>
          </a:p>
          <a:p>
            <a:endParaRPr lang="hu-HU" sz="1800" dirty="0">
              <a:solidFill>
                <a:schemeClr val="tx2"/>
              </a:solidFill>
            </a:endParaRPr>
          </a:p>
          <a:p>
            <a:endParaRPr lang="hu-HU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hu-HU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hu-HU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hu-HU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hu-HU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hu-HU" sz="1800" dirty="0">
                <a:solidFill>
                  <a:schemeClr val="tx2"/>
                </a:solidFill>
              </a:rPr>
              <a:t>Javasolt praktikák:</a:t>
            </a:r>
          </a:p>
          <a:p>
            <a:r>
              <a:rPr lang="hu-HU" sz="1800" dirty="0">
                <a:solidFill>
                  <a:schemeClr val="tx2"/>
                </a:solidFill>
              </a:rPr>
              <a:t>Moduláris és hierarchikus rendszerfelépítés alkalmazása.</a:t>
            </a:r>
          </a:p>
          <a:p>
            <a:r>
              <a:rPr lang="hu-HU" sz="1800" dirty="0">
                <a:solidFill>
                  <a:schemeClr val="tx2"/>
                </a:solidFill>
              </a:rPr>
              <a:t>Generálás és döntéshozatal szeparálása, </a:t>
            </a:r>
            <a:r>
              <a:rPr lang="hu-HU" sz="1800" dirty="0" err="1">
                <a:solidFill>
                  <a:schemeClr val="tx2"/>
                </a:solidFill>
              </a:rPr>
              <a:t>pontozásos</a:t>
            </a:r>
            <a:r>
              <a:rPr lang="hu-HU" sz="1800" dirty="0">
                <a:solidFill>
                  <a:schemeClr val="tx2"/>
                </a:solidFill>
              </a:rPr>
              <a:t> szabályok bevezetése.</a:t>
            </a:r>
          </a:p>
          <a:p>
            <a:r>
              <a:rPr lang="hu-HU" sz="1800" dirty="0">
                <a:solidFill>
                  <a:schemeClr val="tx2"/>
                </a:solidFill>
              </a:rPr>
              <a:t>Multimodális működés biztosítása és automatizált </a:t>
            </a:r>
            <a:r>
              <a:rPr lang="hu-HU" sz="1800" dirty="0" err="1">
                <a:solidFill>
                  <a:schemeClr val="tx2"/>
                </a:solidFill>
              </a:rPr>
              <a:t>workflow</a:t>
            </a:r>
            <a:r>
              <a:rPr lang="hu-HU" sz="1800" dirty="0">
                <a:solidFill>
                  <a:schemeClr val="tx2"/>
                </a:solidFill>
              </a:rPr>
              <a:t>-hangolás.</a:t>
            </a:r>
          </a:p>
        </p:txBody>
      </p:sp>
    </p:spTree>
    <p:extLst>
      <p:ext uri="{BB962C8B-B14F-4D97-AF65-F5344CB8AC3E}">
        <p14:creationId xmlns:p14="http://schemas.microsoft.com/office/powerpoint/2010/main" val="2707359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141</Words>
  <Application>Microsoft Office PowerPoint</Application>
  <PresentationFormat>Szélesvásznú</PresentationFormat>
  <Paragraphs>41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Courier New</vt:lpstr>
      <vt:lpstr>Office-téma</vt:lpstr>
      <vt:lpstr>Hatékony AI folyamok kialakítása</vt:lpstr>
      <vt:lpstr>Multi-Ágens alapmodellek és korlátjaik</vt:lpstr>
      <vt:lpstr>Free-MAD: Konszenzus nélküli vita architektúra</vt:lpstr>
      <vt:lpstr>Cognify: Hierarchikus Autotuning</vt:lpstr>
      <vt:lpstr>Agent Orchestra: A hierarchikus koordináció</vt:lpstr>
      <vt:lpstr>Összegzés, tervezési irányelvek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Angyal Sándor</dc:creator>
  <cp:lastModifiedBy>Angyal Sándor</cp:lastModifiedBy>
  <cp:revision>6</cp:revision>
  <dcterms:created xsi:type="dcterms:W3CDTF">2026-03-24T16:02:20Z</dcterms:created>
  <dcterms:modified xsi:type="dcterms:W3CDTF">2026-03-24T23:49:54Z</dcterms:modified>
</cp:coreProperties>
</file>